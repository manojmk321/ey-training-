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7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89F5C-D55E-4C8E-A91B-E4FF4B326432}" v="213" dt="2026-07-07T03:59:28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B47E9-AAD3-48F9-A06C-15D1F83E4850}" type="datetimeFigureOut"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0A92-98A4-4FD4-8E03-51F5D3BEDE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97166"/>
            <a:ext cx="6400800" cy="6400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DOCIQ  ·  CONTRACT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58952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Sam.</a:t>
            </a:r>
            <a:endParaRPr lang="en-US" sz="4200" dirty="0"/>
          </a:p>
          <a:p>
            <a:pPr>
              <a:lnSpc>
                <a:spcPts val="4600"/>
              </a:lnSpc>
            </a:pPr>
            <a:r>
              <a:rPr lang="en-US" sz="42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A Contract Manager's </a:t>
            </a:r>
            <a:endParaRPr lang="en-US" sz="4200" dirty="0">
              <a:solidFill>
                <a:srgbClr val="000000"/>
              </a:solidFill>
              <a:latin typeface="Cambria"/>
              <a:ea typeface="Cambria"/>
              <a:cs typeface="Calibri" panose="020F0502020204030204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Day </a:t>
            </a:r>
            <a:r>
              <a:rPr lang="en-US" sz="42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Begins.</a:t>
            </a:r>
            <a:endParaRPr lang="en-US" sz="4200">
              <a:latin typeface="Cambria"/>
              <a:ea typeface="Cambria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contract. Every clause. One trusted assistant.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26B0C3-CF06-B0E2-BB6E-B47334370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323" y="0"/>
            <a:ext cx="6002438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69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 BUSY MONDAY MORNING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869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Avalanche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2240" y="1715589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new contracts land in Sam's inbox before 9am — MSAs, NDAs, SOWs, vendor agreements — each one longer than the last.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only Monday.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0F834C-4A14-6E90-855F-3301143D2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010" y="696686"/>
            <a:ext cx="6662838" cy="41873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GRIND BEGINS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Slow Old Way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3668" y="1737360"/>
            <a:ext cx="56692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400"/>
              </a:lnSpc>
            </a:pPr>
            <a:r>
              <a:rPr lang="en-US" sz="150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With no single place to search, Sam opens folder after folder 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0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and browser tab after tab — reading page by page just to </a:t>
            </a: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answer one simple question.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DE5050"/>
          </a:solidFill>
          <a:ln/>
        </p:spPr>
      </p:sp>
      <p:sp>
        <p:nvSpPr>
          <p:cNvPr id="6" name="Text 4"/>
          <p:cNvSpPr/>
          <p:nvPr/>
        </p:nvSpPr>
        <p:spPr>
          <a:xfrm>
            <a:off x="677817" y="320388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scattered across shared drives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28016" cy="128016"/>
          </a:xfrm>
          <a:prstGeom prst="ellipse">
            <a:avLst/>
          </a:prstGeom>
          <a:solidFill>
            <a:srgbClr val="DE5050"/>
          </a:solidFill>
          <a:ln/>
        </p:spPr>
      </p:sp>
      <p:sp>
        <p:nvSpPr>
          <p:cNvPr id="8" name="Text 6"/>
          <p:cNvSpPr/>
          <p:nvPr/>
        </p:nvSpPr>
        <p:spPr>
          <a:xfrm>
            <a:off x="677817" y="370680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review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28016" cy="128016"/>
          </a:xfrm>
          <a:prstGeom prst="ellipse">
            <a:avLst/>
          </a:prstGeom>
          <a:solidFill>
            <a:srgbClr val="DE5050"/>
          </a:solidFill>
          <a:ln/>
        </p:spPr>
      </p:sp>
      <p:sp>
        <p:nvSpPr>
          <p:cNvPr id="10" name="Text 8"/>
          <p:cNvSpPr/>
          <p:nvPr/>
        </p:nvSpPr>
        <p:spPr>
          <a:xfrm>
            <a:off x="677817" y="420972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way to compare clauses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5EEFEE-73A7-3098-2D5B-ED91D150F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52" y="573314"/>
            <a:ext cx="6677352" cy="4601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BY FRIDAY AFTERNOON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Deadlines, Real Risk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400"/>
              </a:lnSpc>
            </a:pPr>
            <a:r>
              <a:rPr lang="en-US" sz="150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A renewal notice slips through unnoticed.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0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 An outdated clause goes unflagged. What started as a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 busy morning has become a costly, stressful week.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DE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risk. High cost. Slow decisions.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7F478F-10C5-E700-5DD0-47134198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39" y="1320800"/>
            <a:ext cx="6728150" cy="3926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01897" y="34776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NEW TEAMMATE ARRIVES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DocIQ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welcomes DocIQ — an AI assistant built to understand contracts like a domain expert, so every question gets a fast, trusted answer.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anything. Get reliable answers.”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500BDE-302E-DB87-6E3A-08AAF081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494" y="544286"/>
            <a:ext cx="6314496" cy="48042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Upload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5269" y="1693817"/>
            <a:ext cx="566928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400"/>
              </a:lnSpc>
            </a:pPr>
            <a:r>
              <a:rPr lang="en-US" sz="150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Sam simply drops the contracts in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 From there, </a:t>
            </a:r>
            <a:r>
              <a:rPr lang="en-US" sz="1500" dirty="0" err="1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DocIQ</a:t>
            </a: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 takes over  quietly organizing everything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00" dirty="0" err="1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so</a:t>
            </a: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 it's ready to search in moments.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4655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added as simple PDF files.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0448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8587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41239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DocIQ reads, sorts and safely files everything.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5171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7823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are protected; nothing sits around unprotected.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2122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21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175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Chat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can start asking questions right away.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4E54E3-5CF0-8E19-9835-A6E3DC51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96" y="740228"/>
            <a:ext cx="6967636" cy="4484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06 · TRUST, BUT VERIFY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Check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5269" y="1715589"/>
            <a:ext cx="566928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Before any answer reaches Sam, it's automatically double-checked </a:t>
            </a:r>
            <a:r>
              <a:rPr lang="en-US" sz="150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against the original contract text — confirming accuracy, reliability,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3D4A4D"/>
                </a:solidFill>
                <a:latin typeface="Calibri"/>
                <a:ea typeface="Calibri"/>
                <a:cs typeface="Calibri"/>
              </a:rPr>
              <a:t> and that nothing was missed.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72274-B285-A230-2D81-68AE2B527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268" y="566058"/>
            <a:ext cx="6321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07 · THE MOMENT OF TRUTH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in Minutes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4811" y="1715589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DocIQ hands Sam a clear, cited answer — with the exact contract and page number behind every claim, ready to share or file for audit.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735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plain-language answer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307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 &amp; page numbers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879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Quality-checked before delivery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69F2C-C358-B6F5-8027-ABF353C2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610" y="384629"/>
            <a:ext cx="6452381" cy="46590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08· CONFIDENCE, RESTORED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in Control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D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after case, Sam moves quickly and confidently — backed by trusted answers instead of guesswork. Every decision is faster, and every case is closed with precision.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6C6A6-E472-1DF4-1B39-89AC0D148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70" y="24720"/>
            <a:ext cx="5979430" cy="68230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0"/>
            <a:ext cx="5486400" cy="54864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6754" y="304219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09· FIVE O'CLOCK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6754" y="605971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Day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8354" y="1785257"/>
            <a:ext cx="557784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2400"/>
              </a:lnSpc>
            </a:pPr>
            <a:r>
              <a:rPr lang="en-US" sz="1550" dirty="0">
                <a:solidFill>
                  <a:srgbClr val="D8E6EC"/>
                </a:solidFill>
                <a:latin typeface="Calibri"/>
                <a:ea typeface="Calibri"/>
                <a:cs typeface="Calibri"/>
              </a:rPr>
              <a:t>Thanks to </a:t>
            </a:r>
            <a:r>
              <a:rPr lang="en-US" sz="1550" dirty="0" err="1">
                <a:solidFill>
                  <a:srgbClr val="D8E6EC"/>
                </a:solidFill>
                <a:latin typeface="Calibri"/>
                <a:ea typeface="Calibri"/>
                <a:cs typeface="Calibri"/>
              </a:rPr>
              <a:t>DocIQ</a:t>
            </a:r>
            <a:r>
              <a:rPr lang="en-US" sz="1550" dirty="0">
                <a:solidFill>
                  <a:srgbClr val="D8E6EC"/>
                </a:solidFill>
                <a:latin typeface="Calibri"/>
                <a:ea typeface="Calibri"/>
                <a:cs typeface="Calibri"/>
              </a:rPr>
              <a:t>, Sam's workflow is faster and consistent</a:t>
            </a:r>
            <a:endParaRPr lang="en-US" sz="15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1550" dirty="0">
                <a:solidFill>
                  <a:srgbClr val="D8E6EC"/>
                </a:solidFill>
                <a:latin typeface="Calibri"/>
                <a:ea typeface="Calibri"/>
                <a:cs typeface="Calibri"/>
              </a:rPr>
              <a:t> every review is auditable, and there's finally time left for the strategic work that matters most.</a:t>
            </a:r>
            <a:endParaRPr lang="en-US" sz="155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6E41D6-7CDB-9681-9DAA-7359E8CA6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465" y="14516"/>
            <a:ext cx="6873296" cy="68434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Searching.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Deciding.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943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50" i="1" dirty="0">
              <a:solidFill>
                <a:srgbClr val="D8E6EC"/>
              </a:solidFill>
              <a:ea typeface="Calibri"/>
              <a:cs typeface="Calibri"/>
            </a:endParaRPr>
          </a:p>
        </p:txBody>
      </p:sp>
      <p:pic>
        <p:nvPicPr>
          <p:cNvPr id="15" name="Image 0" descr="/home/claude/assets/sam_happy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3291840" cy="3291840"/>
          </a:xfrm>
          <a:prstGeom prst="rect">
            <a:avLst/>
          </a:prstGeom>
        </p:spPr>
      </p:pic>
      <p:pic>
        <p:nvPicPr>
          <p:cNvPr id="16" name="Image 1" descr="/home/claude/assets/iq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914400"/>
            <a:ext cx="2194560" cy="21945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DocIQ Contract Intelligence</dc:title>
  <dc:subject>PptxGenJS Presentation</dc:subject>
  <dc:creator>DocIQ</dc:creator>
  <cp:lastModifiedBy>DocIQ</cp:lastModifiedBy>
  <cp:revision>145</cp:revision>
  <dcterms:created xsi:type="dcterms:W3CDTF">2026-07-06T09:55:26Z</dcterms:created>
  <dcterms:modified xsi:type="dcterms:W3CDTF">2026-07-07T04:40:43Z</dcterms:modified>
</cp:coreProperties>
</file>